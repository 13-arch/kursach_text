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70" r:id="rId10"/>
    <p:sldId id="271" r:id="rId11"/>
    <p:sldId id="272" r:id="rId12"/>
    <p:sldId id="265" r:id="rId13"/>
    <p:sldId id="266" r:id="rId1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13" userId="cb9e4818d1c33abf" providerId="LiveId" clId="{337E8CAB-38E3-44F9-A6F8-F6CA6A905BDB}"/>
    <pc:docChg chg="modSld">
      <pc:chgData name="Arseniy 13" userId="cb9e4818d1c33abf" providerId="LiveId" clId="{337E8CAB-38E3-44F9-A6F8-F6CA6A905BDB}" dt="2026-01-13T19:54:12.022" v="0"/>
      <pc:docMkLst>
        <pc:docMk/>
      </pc:docMkLst>
      <pc:sldChg chg="addSp modSp">
        <pc:chgData name="Arseniy 13" userId="cb9e4818d1c33abf" providerId="LiveId" clId="{337E8CAB-38E3-44F9-A6F8-F6CA6A905BDB}" dt="2026-01-13T19:54:12.022" v="0"/>
        <pc:sldMkLst>
          <pc:docMk/>
          <pc:sldMk cId="0" sldId="272"/>
        </pc:sldMkLst>
        <pc:spChg chg="add mod">
          <ac:chgData name="Arseniy 13" userId="cb9e4818d1c33abf" providerId="LiveId" clId="{337E8CAB-38E3-44F9-A6F8-F6CA6A905BDB}" dt="2026-01-13T19:54:12.022" v="0"/>
          <ac:spMkLst>
            <pc:docMk/>
            <pc:sldMk cId="0" sldId="272"/>
            <ac:spMk id="2" creationId="{F7F1C445-05F0-BD67-48A6-2B37F741DA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2801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0EA5E9"/>
                </a:solidFill>
                <a:latin typeface="Arial Black"/>
              </a:defRPr>
            </a:pPr>
            <a:r>
              <a:t>РАЗРАБОТКА ВЕБ-ПЛАТФОРМЫ</a:t>
            </a:r>
            <a:br/>
            <a:r>
              <a:t>АВТОМАТИЗАЦИИ ОБУЧЕНИЯ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Курсовой проект | Backend &amp; Security Architecture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0481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rPr dirty="0"/>
              <a:t>1. АКТУАЛЬНОСТЬ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36568"/>
            <a:ext cx="658368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1125" y="2011680"/>
            <a:ext cx="5317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rPr lang="ru-RU" dirty="0"/>
              <a:t>Решение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955282" y="2560320"/>
            <a:ext cx="603504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BY" dirty="0"/>
          </a:p>
          <a:p>
            <a:pPr>
              <a:spcAft>
                <a:spcPts val="1200"/>
              </a:spcAft>
            </a:pPr>
            <a:r>
              <a:rPr lang="ru-RU" sz="2800" b="1" dirty="0">
                <a:solidFill>
                  <a:srgbClr val="F1F5F9"/>
                </a:solidFill>
              </a:rPr>
              <a:t>Автоматизация</a:t>
            </a:r>
          </a:p>
          <a:p>
            <a:pPr>
              <a:spcAft>
                <a:spcPts val="1200"/>
              </a:spcAft>
            </a:pPr>
            <a:r>
              <a:rPr lang="ru-RU" sz="2400" dirty="0">
                <a:solidFill>
                  <a:srgbClr val="F1F5F9"/>
                </a:solidFill>
              </a:rPr>
              <a:t>Мгновенная проверка тестов и кода.</a:t>
            </a:r>
          </a:p>
          <a:p>
            <a:pPr>
              <a:spcAft>
                <a:spcPts val="1200"/>
              </a:spcAft>
            </a:pPr>
            <a:r>
              <a:rPr lang="ru-RU" sz="2800" b="1" dirty="0">
                <a:solidFill>
                  <a:srgbClr val="F1F5F9"/>
                </a:solidFill>
              </a:rPr>
              <a:t>Песочница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lang="ru-RU" sz="2400" dirty="0">
                <a:solidFill>
                  <a:srgbClr val="F1F5F9"/>
                </a:solidFill>
              </a:rPr>
              <a:t>Безопасный запуск скриптов на сервере.</a:t>
            </a:r>
          </a:p>
          <a:p>
            <a:pPr>
              <a:spcAft>
                <a:spcPts val="1200"/>
              </a:spcAft>
            </a:pPr>
            <a:r>
              <a:rPr lang="ru-RU" sz="2800" b="1" dirty="0">
                <a:solidFill>
                  <a:srgbClr val="F1F5F9"/>
                </a:solidFill>
              </a:rPr>
              <a:t>Экономия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lang="ru-RU" sz="2400" dirty="0">
                <a:solidFill>
                  <a:srgbClr val="F1F5F9"/>
                </a:solidFill>
              </a:rPr>
              <a:t>Бесплатный стек технологий (Open Source).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endParaRPr lang="ru-RU" dirty="0"/>
          </a:p>
        </p:txBody>
      </p:sp>
      <p:sp>
        <p:nvSpPr>
          <p:cNvPr id="8" name="Rounded Rectangle 7"/>
          <p:cNvSpPr/>
          <p:nvPr/>
        </p:nvSpPr>
        <p:spPr>
          <a:xfrm>
            <a:off x="365758" y="1836568"/>
            <a:ext cx="658368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Проблемы процесса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73345"/>
            <a:ext cx="60350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/>
              <a:t>Рутина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Преподаватели</a:t>
            </a:r>
            <a:r>
              <a:rPr dirty="0"/>
              <a:t> </a:t>
            </a:r>
            <a:r>
              <a:rPr dirty="0" err="1"/>
              <a:t>тратят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30%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Долгое</a:t>
            </a:r>
            <a:r>
              <a:rPr dirty="0"/>
              <a:t> </a:t>
            </a:r>
            <a:r>
              <a:rPr dirty="0" err="1"/>
              <a:t>ожидание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Студенты</a:t>
            </a:r>
            <a:r>
              <a:rPr dirty="0"/>
              <a:t> </a:t>
            </a:r>
            <a:r>
              <a:rPr dirty="0" err="1"/>
              <a:t>получают</a:t>
            </a:r>
            <a:r>
              <a:rPr dirty="0"/>
              <a:t> </a:t>
            </a:r>
            <a:r>
              <a:rPr dirty="0" err="1"/>
              <a:t>оценку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3-5 </a:t>
            </a:r>
            <a:r>
              <a:rPr dirty="0" err="1"/>
              <a:t>дней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эффективность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sz="2800" b="1" dirty="0" err="1">
                <a:solidFill>
                  <a:srgbClr val="F1F5F9"/>
                </a:solidFill>
              </a:rPr>
              <a:t>Отсутствие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безопасных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сред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для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запуска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кода</a:t>
            </a:r>
            <a:r>
              <a:rPr sz="2800" b="1" dirty="0">
                <a:solidFill>
                  <a:srgbClr val="F1F5F9"/>
                </a:solidFill>
              </a:rPr>
              <a:t> в Moodle.</a:t>
            </a:r>
            <a:endParaRPr lang="en-US" sz="2800" b="1" dirty="0">
              <a:solidFill>
                <a:srgbClr val="F1F5F9"/>
              </a:solidFill>
            </a:endParaRP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t>2. ЦЕЛЬ И ЗАДАЧИ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716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16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Главная 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31673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защищенной</a:t>
            </a:r>
            <a:r>
              <a:rPr dirty="0"/>
              <a:t> </a:t>
            </a:r>
            <a:r>
              <a:rPr dirty="0" err="1"/>
              <a:t>веб-платформы</a:t>
            </a:r>
            <a:r>
              <a:rPr dirty="0"/>
              <a:t> с </a:t>
            </a:r>
            <a:r>
              <a:rPr dirty="0" err="1"/>
              <a:t>ролевой</a:t>
            </a:r>
            <a:r>
              <a:rPr dirty="0"/>
              <a:t> </a:t>
            </a:r>
            <a:r>
              <a:rPr dirty="0" err="1"/>
              <a:t>моделью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автоматического</a:t>
            </a:r>
            <a:r>
              <a:rPr dirty="0"/>
              <a:t> </a:t>
            </a:r>
            <a:r>
              <a:rPr dirty="0" err="1"/>
              <a:t>тестирования</a:t>
            </a:r>
            <a:r>
              <a:rPr dirty="0"/>
              <a:t> </a:t>
            </a:r>
            <a:r>
              <a:rPr dirty="0" err="1"/>
              <a:t>навыков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Python с </a:t>
            </a:r>
            <a:r>
              <a:rPr dirty="0" err="1"/>
              <a:t>мгновенной</a:t>
            </a:r>
            <a:r>
              <a:rPr dirty="0"/>
              <a:t> </a:t>
            </a:r>
            <a:r>
              <a:rPr dirty="0" err="1"/>
              <a:t>обратной</a:t>
            </a:r>
            <a:r>
              <a:rPr dirty="0"/>
              <a:t> </a:t>
            </a:r>
            <a:r>
              <a:rPr dirty="0" err="1"/>
              <a:t>связью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65836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Технические задачи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90356"/>
            <a:ext cx="60350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1. </a:t>
            </a:r>
            <a:r>
              <a:rPr dirty="0" err="1"/>
              <a:t>Реализовать</a:t>
            </a:r>
            <a:r>
              <a:rPr dirty="0"/>
              <a:t> </a:t>
            </a:r>
            <a:r>
              <a:rPr dirty="0" err="1"/>
              <a:t>асинхронный</a:t>
            </a:r>
            <a:r>
              <a:rPr dirty="0"/>
              <a:t> API (</a:t>
            </a:r>
            <a:r>
              <a:rPr dirty="0" err="1"/>
              <a:t>FastAPI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2.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изолированную</a:t>
            </a:r>
            <a:r>
              <a:rPr dirty="0"/>
              <a:t> «</a:t>
            </a:r>
            <a:r>
              <a:rPr dirty="0" err="1"/>
              <a:t>Песочницу</a:t>
            </a:r>
            <a:r>
              <a:rPr dirty="0"/>
              <a:t>» (Sandbox).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3. </a:t>
            </a:r>
            <a:r>
              <a:rPr dirty="0" err="1"/>
              <a:t>Спроектировать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(PostgreSQL).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4. 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(JS).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572000"/>
            <a:ext cx="65836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9" y="47548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Задачи безопасности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4990356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1.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RCE (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кода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2. </a:t>
            </a:r>
            <a:r>
              <a:rPr dirty="0" err="1"/>
              <a:t>Хеширование</a:t>
            </a:r>
            <a:r>
              <a:rPr dirty="0"/>
              <a:t> </a:t>
            </a:r>
            <a:r>
              <a:rPr dirty="0" err="1"/>
              <a:t>паролей</a:t>
            </a:r>
            <a:r>
              <a:rPr dirty="0"/>
              <a:t> (SHA-512).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3.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сессий</a:t>
            </a:r>
            <a:r>
              <a:rPr dirty="0"/>
              <a:t> (</a:t>
            </a:r>
            <a:r>
              <a:rPr dirty="0" err="1"/>
              <a:t>HttpOnly</a:t>
            </a:r>
            <a:r>
              <a:rPr dirty="0"/>
              <a:t> Cookies).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4. </a:t>
            </a:r>
            <a:r>
              <a:rPr dirty="0" err="1"/>
              <a:t>Предотвращение</a:t>
            </a:r>
            <a:r>
              <a:rPr dirty="0"/>
              <a:t> XSS </a:t>
            </a:r>
            <a:r>
              <a:rPr dirty="0" err="1"/>
              <a:t>атак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rPr dirty="0"/>
              <a:t>3. BACKEND: PYTHON &amp; 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71600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16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Почему выбран FastAPI?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85447"/>
            <a:ext cx="1316736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Асинхронность</a:t>
            </a:r>
            <a:r>
              <a:rPr dirty="0"/>
              <a:t> (ASGI)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обрабатывать</a:t>
            </a:r>
            <a:r>
              <a:rPr dirty="0"/>
              <a:t> </a:t>
            </a:r>
            <a:r>
              <a:rPr dirty="0" err="1"/>
              <a:t>тысячи</a:t>
            </a:r>
            <a:r>
              <a:rPr dirty="0"/>
              <a:t> </a:t>
            </a:r>
            <a:r>
              <a:rPr dirty="0" err="1"/>
              <a:t>одновременных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блокировки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, в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синхронного</a:t>
            </a:r>
            <a:r>
              <a:rPr dirty="0"/>
              <a:t> Django.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Валидация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Встроенная</a:t>
            </a:r>
            <a:r>
              <a:rPr dirty="0"/>
              <a:t> </a:t>
            </a:r>
            <a:r>
              <a:rPr dirty="0" err="1"/>
              <a:t>библиотека</a:t>
            </a:r>
            <a:r>
              <a:rPr dirty="0"/>
              <a:t> </a:t>
            </a:r>
            <a:r>
              <a:rPr dirty="0" err="1"/>
              <a:t>Pydantic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в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попадают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корректные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(</a:t>
            </a:r>
            <a:r>
              <a:rPr dirty="0" err="1"/>
              <a:t>строгая</a:t>
            </a:r>
            <a:r>
              <a:rPr dirty="0"/>
              <a:t> </a:t>
            </a:r>
            <a:r>
              <a:rPr dirty="0" err="1"/>
              <a:t>типизация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Микросервисная</a:t>
            </a:r>
            <a:r>
              <a:rPr dirty="0"/>
              <a:t> </a:t>
            </a:r>
            <a:r>
              <a:rPr dirty="0" err="1"/>
              <a:t>архитектура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Легковесность</a:t>
            </a:r>
            <a:r>
              <a:rPr dirty="0"/>
              <a:t> </a:t>
            </a:r>
            <a:r>
              <a:rPr dirty="0" err="1"/>
              <a:t>фреймворка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легко</a:t>
            </a:r>
            <a:r>
              <a:rPr dirty="0"/>
              <a:t> </a:t>
            </a:r>
            <a:r>
              <a:rPr dirty="0" err="1"/>
              <a:t>масштабировать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и </a:t>
            </a:r>
            <a:r>
              <a:rPr dirty="0" err="1"/>
              <a:t>контейнеризировать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в </a:t>
            </a:r>
            <a:r>
              <a:rPr dirty="0" err="1"/>
              <a:t>будущем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2731" y="365760"/>
            <a:ext cx="77861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0EA5E9"/>
                </a:solidFill>
                <a:latin typeface="Arial Black"/>
              </a:defRPr>
            </a:pPr>
            <a:r>
              <a:rPr sz="3600" dirty="0">
                <a:solidFill>
                  <a:srgbClr val="0EA5E9"/>
                </a:solidFill>
                <a:latin typeface="Arial Black"/>
              </a:rPr>
              <a:t>4. КАК УСТРОЕНА СИСТЕМА?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38BDF8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Слой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(Приемная)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Сюда приходят запросы от студентов.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Задача: Проверить, что данные корректны (не пустые поля, правильный формат) и передать дальше.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97316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Сервисы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(Мозг системы)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Здесь происходит вся магия.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Задача: Проверить ответы теста, запустить код в песочнице, посчитать баллы и решить, сдал студент или нет.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2860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38BDF8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Репозиторий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9260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(Кладовщик)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6576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Этот слой не думает, он просто хранит.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Задача: Сохранить результаты в файл или базу данных. Сервисы не знают, где лежат данные, они просто просят «Сохрани».</a:t>
            </a:r>
          </a:p>
        </p:txBody>
      </p:sp>
      <p:sp>
        <p:nvSpPr>
          <p:cNvPr id="16" name="Can 15"/>
          <p:cNvSpPr/>
          <p:nvPr/>
        </p:nvSpPr>
        <p:spPr>
          <a:xfrm>
            <a:off x="12801600" y="3200400"/>
            <a:ext cx="1371600" cy="2743200"/>
          </a:xfrm>
          <a:prstGeom prst="can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Файлы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или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БД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14800" y="4114800"/>
            <a:ext cx="457200" cy="45720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229600" y="4114800"/>
            <a:ext cx="457200" cy="45720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12344400" y="4114800"/>
            <a:ext cx="457200" cy="45720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785" y="7217509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</a:defRPr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Вывод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Благодаря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такому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разделению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мы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можем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любой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момент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заменить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Базу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Данных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не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переписывая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логику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проверки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тестов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E5CC9B51-BEC7-75C0-B375-AA39DD3EB52E}"/>
              </a:ext>
            </a:extLst>
          </p:cNvPr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DB37E91F-17AA-35E7-2D3B-06A42258EB54}"/>
              </a:ext>
            </a:extLst>
          </p:cNvPr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t>5. МОДУЛЬ «ПЕСОЧНИЦА» (SANDBOX)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583680" cy="57443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1" y="2004646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rPr dirty="0" err="1"/>
              <a:t>Угроза</a:t>
            </a:r>
            <a:r>
              <a:rPr dirty="0"/>
              <a:t> </a:t>
            </a:r>
            <a:r>
              <a:rPr dirty="0" err="1"/>
              <a:t>безопасности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отправить</a:t>
            </a:r>
            <a:r>
              <a:rPr dirty="0"/>
              <a:t> </a:t>
            </a:r>
            <a:r>
              <a:rPr dirty="0" err="1"/>
              <a:t>вредоносный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:</a:t>
            </a:r>
          </a:p>
          <a:p>
            <a:pPr lvl="1">
              <a:spcAft>
                <a:spcPts val="1200"/>
              </a:spcAft>
              <a:defRPr sz="2200">
                <a:solidFill>
                  <a:srgbClr val="94A3B8"/>
                </a:solidFill>
              </a:defRPr>
            </a:pPr>
            <a:r>
              <a:rPr dirty="0"/>
              <a:t>- </a:t>
            </a:r>
            <a:r>
              <a:rPr dirty="0" err="1"/>
              <a:t>Удалит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(rm -rf).</a:t>
            </a:r>
          </a:p>
          <a:p>
            <a:pPr lvl="1">
              <a:spcAft>
                <a:spcPts val="1200"/>
              </a:spcAft>
              <a:defRPr sz="2200">
                <a:solidFill>
                  <a:srgbClr val="94A3B8"/>
                </a:solidFill>
              </a:defRPr>
            </a:pPr>
            <a:r>
              <a:rPr dirty="0"/>
              <a:t>- </a:t>
            </a:r>
            <a:r>
              <a:rPr dirty="0" err="1"/>
              <a:t>Запустит</a:t>
            </a:r>
            <a:r>
              <a:rPr dirty="0"/>
              <a:t> </a:t>
            </a:r>
            <a:r>
              <a:rPr dirty="0" err="1"/>
              <a:t>бесконечный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(DoS </a:t>
            </a:r>
            <a:r>
              <a:rPr dirty="0" err="1"/>
              <a:t>атака</a:t>
            </a:r>
            <a:r>
              <a:rPr dirty="0"/>
              <a:t>).</a:t>
            </a:r>
          </a:p>
          <a:p>
            <a:pPr lvl="1">
              <a:spcAft>
                <a:spcPts val="1200"/>
              </a:spcAft>
              <a:defRPr sz="2200">
                <a:solidFill>
                  <a:srgbClr val="94A3B8"/>
                </a:solidFill>
              </a:defRPr>
            </a:pPr>
            <a:r>
              <a:rPr dirty="0"/>
              <a:t>- </a:t>
            </a:r>
            <a:r>
              <a:rPr dirty="0" err="1"/>
              <a:t>Прочитает</a:t>
            </a:r>
            <a:r>
              <a:rPr dirty="0"/>
              <a:t> </a:t>
            </a:r>
            <a:r>
              <a:rPr dirty="0" err="1"/>
              <a:t>конфиденциальные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защиты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упадет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6583680" cy="57443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399" y="1915551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rPr dirty="0" err="1"/>
              <a:t>Реализованная</a:t>
            </a:r>
            <a:r>
              <a:rPr dirty="0"/>
              <a:t> </a:t>
            </a:r>
            <a:r>
              <a:rPr dirty="0" err="1"/>
              <a:t>защита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863840" y="2004646"/>
            <a:ext cx="603504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sz="2800" b="1" dirty="0">
                <a:solidFill>
                  <a:srgbClr val="F1F5F9"/>
                </a:solidFill>
              </a:rPr>
              <a:t>1. </a:t>
            </a:r>
            <a:r>
              <a:rPr sz="2800" b="1" dirty="0" err="1">
                <a:solidFill>
                  <a:srgbClr val="F1F5F9"/>
                </a:solidFill>
              </a:rPr>
              <a:t>Статический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анализ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endParaRPr lang="ru-RU" sz="2800" b="1" dirty="0">
              <a:solidFill>
                <a:srgbClr val="F1F5F9"/>
              </a:solidFill>
            </a:endParaRP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sz="2400" dirty="0" err="1">
                <a:solidFill>
                  <a:srgbClr val="F1F5F9"/>
                </a:solidFill>
              </a:rPr>
              <a:t>Парсинг</a:t>
            </a:r>
            <a:r>
              <a:rPr sz="2400" dirty="0">
                <a:solidFill>
                  <a:srgbClr val="F1F5F9"/>
                </a:solidFill>
              </a:rPr>
              <a:t> </a:t>
            </a:r>
            <a:r>
              <a:rPr sz="2400" dirty="0" err="1">
                <a:solidFill>
                  <a:srgbClr val="F1F5F9"/>
                </a:solidFill>
              </a:rPr>
              <a:t>кода</a:t>
            </a:r>
            <a:r>
              <a:rPr sz="2400" dirty="0">
                <a:solidFill>
                  <a:srgbClr val="F1F5F9"/>
                </a:solidFill>
              </a:rPr>
              <a:t> ДО </a:t>
            </a:r>
            <a:r>
              <a:rPr sz="2400" dirty="0" err="1">
                <a:solidFill>
                  <a:srgbClr val="F1F5F9"/>
                </a:solidFill>
              </a:rPr>
              <a:t>запуска</a:t>
            </a:r>
            <a:r>
              <a:rPr sz="2400" dirty="0">
                <a:solidFill>
                  <a:srgbClr val="F1F5F9"/>
                </a:solidFill>
              </a:rPr>
              <a:t>. </a:t>
            </a:r>
            <a:r>
              <a:rPr sz="2400" dirty="0" err="1">
                <a:solidFill>
                  <a:srgbClr val="F1F5F9"/>
                </a:solidFill>
              </a:rPr>
              <a:t>Блокируются</a:t>
            </a:r>
            <a:r>
              <a:rPr sz="2400" dirty="0">
                <a:solidFill>
                  <a:srgbClr val="F1F5F9"/>
                </a:solidFill>
              </a:rPr>
              <a:t> </a:t>
            </a:r>
            <a:r>
              <a:rPr sz="2400" dirty="0" err="1">
                <a:solidFill>
                  <a:srgbClr val="F1F5F9"/>
                </a:solidFill>
              </a:rPr>
              <a:t>опасные</a:t>
            </a:r>
            <a:r>
              <a:rPr sz="2400" dirty="0">
                <a:solidFill>
                  <a:srgbClr val="F1F5F9"/>
                </a:solidFill>
              </a:rPr>
              <a:t> </a:t>
            </a:r>
            <a:r>
              <a:rPr sz="2400" dirty="0" err="1">
                <a:solidFill>
                  <a:srgbClr val="F1F5F9"/>
                </a:solidFill>
              </a:rPr>
              <a:t>импорты</a:t>
            </a:r>
            <a:r>
              <a:rPr sz="2400" dirty="0">
                <a:solidFill>
                  <a:srgbClr val="F1F5F9"/>
                </a:solidFill>
              </a:rPr>
              <a:t> (</a:t>
            </a:r>
            <a:r>
              <a:rPr sz="2400" dirty="0" err="1">
                <a:solidFill>
                  <a:srgbClr val="F1F5F9"/>
                </a:solidFill>
              </a:rPr>
              <a:t>os</a:t>
            </a:r>
            <a:r>
              <a:rPr sz="2400" dirty="0">
                <a:solidFill>
                  <a:srgbClr val="F1F5F9"/>
                </a:solidFill>
              </a:rPr>
              <a:t>, subprocess) и </a:t>
            </a:r>
            <a:r>
              <a:rPr sz="2400" dirty="0" err="1">
                <a:solidFill>
                  <a:srgbClr val="F1F5F9"/>
                </a:solidFill>
              </a:rPr>
              <a:t>функции</a:t>
            </a:r>
            <a:r>
              <a:rPr sz="2400" dirty="0">
                <a:solidFill>
                  <a:srgbClr val="F1F5F9"/>
                </a:solidFill>
              </a:rPr>
              <a:t> (exec, eval).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/>
              <a:t>2. </a:t>
            </a:r>
            <a:r>
              <a:rPr dirty="0" err="1"/>
              <a:t>Изоляция</a:t>
            </a:r>
            <a:r>
              <a:rPr dirty="0"/>
              <a:t> </a:t>
            </a:r>
            <a:r>
              <a:rPr dirty="0" err="1"/>
              <a:t>процессов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модуль</a:t>
            </a:r>
            <a:r>
              <a:rPr dirty="0"/>
              <a:t> multiprocessing с </a:t>
            </a:r>
            <a:r>
              <a:rPr dirty="0" err="1"/>
              <a:t>отдельным</a:t>
            </a:r>
            <a:r>
              <a:rPr dirty="0"/>
              <a:t> PID.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/>
              <a:t>3. Time Limit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Жесткое</a:t>
            </a:r>
            <a:r>
              <a:rPr dirty="0"/>
              <a:t> </a:t>
            </a: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(2 </a:t>
            </a:r>
            <a:r>
              <a:rPr dirty="0" err="1"/>
              <a:t>сек</a:t>
            </a:r>
            <a:r>
              <a:rPr dirty="0"/>
              <a:t>).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принудительно</a:t>
            </a:r>
            <a:r>
              <a:rPr dirty="0"/>
              <a:t> </a:t>
            </a:r>
            <a:r>
              <a:rPr dirty="0" err="1"/>
              <a:t>убивается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превышении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t>6. ЗАЩИТА ДАННЫХ И ДОСТУПА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716000" cy="250873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316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Аутентификация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2412"/>
            <a:ext cx="131673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Хеширование</a:t>
            </a:r>
            <a:r>
              <a:rPr dirty="0"/>
              <a:t> SHA-512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Пароли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хранятся</a:t>
            </a:r>
            <a:r>
              <a:rPr dirty="0"/>
              <a:t> в </a:t>
            </a:r>
            <a:r>
              <a:rPr dirty="0" err="1"/>
              <a:t>открытом</a:t>
            </a:r>
            <a:r>
              <a:rPr dirty="0"/>
              <a:t> </a:t>
            </a:r>
            <a:r>
              <a:rPr dirty="0" err="1"/>
              <a:t>виде</a:t>
            </a:r>
            <a:r>
              <a:rPr dirty="0"/>
              <a:t>.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криптографически</a:t>
            </a:r>
            <a:r>
              <a:rPr dirty="0"/>
              <a:t> </a:t>
            </a:r>
            <a:r>
              <a:rPr dirty="0" err="1"/>
              <a:t>стойкий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SHA-512,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коллизий</a:t>
            </a:r>
            <a:r>
              <a:rPr dirty="0"/>
              <a:t> и </a:t>
            </a:r>
            <a:r>
              <a:rPr dirty="0" err="1"/>
              <a:t>перебора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94738"/>
            <a:ext cx="137160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982307"/>
            <a:ext cx="23688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rPr dirty="0" err="1"/>
              <a:t>Ролевая</a:t>
            </a:r>
            <a:r>
              <a:rPr dirty="0"/>
              <a:t> </a:t>
            </a:r>
            <a:r>
              <a:rPr dirty="0" err="1"/>
              <a:t>модель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5122435"/>
            <a:ext cx="129610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поддерживает</a:t>
            </a:r>
            <a:r>
              <a:rPr dirty="0"/>
              <a:t> 3 </a:t>
            </a:r>
            <a:r>
              <a:rPr dirty="0" err="1"/>
              <a:t>роли</a:t>
            </a:r>
            <a:r>
              <a:rPr dirty="0"/>
              <a:t> с </a:t>
            </a:r>
            <a:r>
              <a:rPr dirty="0" err="1"/>
              <a:t>жестким</a:t>
            </a:r>
            <a:r>
              <a:rPr dirty="0"/>
              <a:t> </a:t>
            </a:r>
            <a:r>
              <a:rPr dirty="0" err="1"/>
              <a:t>разграничением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1. </a:t>
            </a:r>
            <a:r>
              <a:rPr dirty="0" err="1"/>
              <a:t>Администратор</a:t>
            </a:r>
            <a:r>
              <a:rPr dirty="0"/>
              <a:t>: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пользователями</a:t>
            </a:r>
            <a:r>
              <a:rPr dirty="0"/>
              <a:t> и </a:t>
            </a:r>
            <a:r>
              <a:rPr dirty="0" err="1"/>
              <a:t>системой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2. </a:t>
            </a:r>
            <a:r>
              <a:rPr dirty="0" err="1"/>
              <a:t>Преподаватель</a:t>
            </a:r>
            <a:r>
              <a:rPr dirty="0"/>
              <a:t>: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тестов</a:t>
            </a:r>
            <a:r>
              <a:rPr dirty="0"/>
              <a:t>, </a:t>
            </a: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аналитики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3. </a:t>
            </a:r>
            <a:r>
              <a:rPr dirty="0" err="1"/>
              <a:t>Студент</a:t>
            </a:r>
            <a:r>
              <a:rPr dirty="0"/>
              <a:t>: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прохождение</a:t>
            </a:r>
            <a:r>
              <a:rPr dirty="0"/>
              <a:t> </a:t>
            </a:r>
            <a:r>
              <a:rPr dirty="0" err="1"/>
              <a:t>тестов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t>7. FRONTEND: VANILLA 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58368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82837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фреймворков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035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Производительность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Размер</a:t>
            </a:r>
            <a:r>
              <a:rPr dirty="0"/>
              <a:t> React/Vue </a:t>
            </a:r>
            <a:r>
              <a:rPr dirty="0" err="1"/>
              <a:t>приложений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превышает</a:t>
            </a:r>
            <a:r>
              <a:rPr dirty="0"/>
              <a:t> 300 КБ. </a:t>
            </a:r>
            <a:r>
              <a:rPr dirty="0" err="1"/>
              <a:t>Наше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весит</a:t>
            </a:r>
            <a:r>
              <a:rPr dirty="0"/>
              <a:t> &lt; 50 КБ.</a:t>
            </a:r>
            <a:endParaRPr lang="ru-BY"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lang="ru-RU" dirty="0"/>
              <a:t>Скорость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lang="ru-RU" dirty="0"/>
              <a:t>Время первой отрисовки контента — 0.3 секунды.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658368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399" y="2182837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800534" y="2560320"/>
            <a:ext cx="6035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 err="1"/>
              <a:t>Компонентный</a:t>
            </a:r>
            <a:r>
              <a:rPr dirty="0"/>
              <a:t> </a:t>
            </a:r>
            <a:r>
              <a:rPr dirty="0" err="1"/>
              <a:t>подход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построен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чистых</a:t>
            </a:r>
            <a:r>
              <a:rPr dirty="0"/>
              <a:t> </a:t>
            </a:r>
            <a:r>
              <a:rPr dirty="0" err="1"/>
              <a:t>функциях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рендерят</a:t>
            </a:r>
            <a:r>
              <a:rPr dirty="0"/>
              <a:t> HTML.</a:t>
            </a:r>
          </a:p>
          <a:p>
            <a:pPr>
              <a:spcAft>
                <a:spcPts val="1200"/>
              </a:spcAft>
              <a:defRPr sz="2800" b="1">
                <a:solidFill>
                  <a:srgbClr val="F1F5F9"/>
                </a:solidFill>
              </a:defRPr>
            </a:pPr>
            <a:r>
              <a:rPr dirty="0"/>
              <a:t>State Management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Состояние (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, </a:t>
            </a:r>
            <a:r>
              <a:rPr dirty="0" err="1"/>
              <a:t>тема</a:t>
            </a:r>
            <a:r>
              <a:rPr dirty="0"/>
              <a:t> </a:t>
            </a:r>
            <a:r>
              <a:rPr dirty="0" err="1"/>
              <a:t>оформления</a:t>
            </a:r>
            <a:r>
              <a:rPr dirty="0"/>
              <a:t>) </a:t>
            </a:r>
            <a:r>
              <a:rPr dirty="0" err="1"/>
              <a:t>хранится</a:t>
            </a:r>
            <a:r>
              <a:rPr dirty="0"/>
              <a:t> в </a:t>
            </a:r>
            <a:r>
              <a:rPr dirty="0" err="1"/>
              <a:t>localStorage</a:t>
            </a:r>
            <a:r>
              <a:rPr dirty="0"/>
              <a:t> и </a:t>
            </a:r>
            <a:r>
              <a:rPr dirty="0" err="1"/>
              <a:t>синхронизируется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вкладками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3807"/>
            <a:ext cx="36375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0EA5E9"/>
                </a:solidFill>
                <a:latin typeface="Arial Black"/>
              </a:defRPr>
            </a:pPr>
            <a:r>
              <a:rPr sz="3600" dirty="0">
                <a:solidFill>
                  <a:srgbClr val="0EA5E9"/>
                </a:solidFill>
                <a:latin typeface="Arial Black"/>
              </a:rPr>
              <a:t>8. КАЧЕСТВ</a:t>
            </a:r>
            <a:r>
              <a:rPr lang="ru-RU" sz="3600" dirty="0">
                <a:solidFill>
                  <a:srgbClr val="0EA5E9"/>
                </a:solidFill>
                <a:latin typeface="Arial Black"/>
              </a:rPr>
              <a:t>О</a:t>
            </a:r>
            <a:endParaRPr sz="3600" dirty="0">
              <a:solidFill>
                <a:srgbClr val="0EA5E9"/>
              </a:solidFill>
              <a:latin typeface="Arial Black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Как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мы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проверяем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что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всё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57200" y="1828800"/>
            <a:ext cx="6400800" cy="5486400"/>
          </a:xfrm>
          <a:prstGeom prst="triangle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97316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Ручные тесты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38BDF8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Интеграционные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Модульные (Unit)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97316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Ручные тесты (Пользователь)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Я сам захожу на сайт как студент, прохожу тест и смотрю, правильно ли выставилась оценка.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57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38BDF8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Интеграционные (Связки)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114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Проверяем, дружит ли сервер с базой данных. Записывается ли файл, когда студент нажимает «Сохранить».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4864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FFFFFF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Модульные (Код)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9436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Автоматическая проверка каждой маленькой функции. Например: «Правильно ли калькулятор складывает 2+2?»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D0C918E-F1C7-B89D-34AA-A79C6530542C}"/>
              </a:ext>
            </a:extLst>
          </p:cNvPr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331B9755-AF45-1DF9-54B7-8BC93484B0F8}"/>
              </a:ext>
            </a:extLst>
          </p:cNvPr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94484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rPr lang="ru-RU" sz="3600" dirty="0">
                <a:solidFill>
                  <a:srgbClr val="0EA5E9"/>
                </a:solidFill>
                <a:latin typeface="Arial Black"/>
              </a:rPr>
              <a:t>9. </a:t>
            </a:r>
            <a:r>
              <a:rPr sz="3600" dirty="0">
                <a:solidFill>
                  <a:srgbClr val="0EA5E9"/>
                </a:solidFill>
                <a:latin typeface="Arial Black"/>
              </a:rPr>
              <a:t>АРХИТЕКТУРА РАЗВЕРТЫВАНИЯ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Почему мы используем связку Gunicorn + Uvicorn?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658368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38BDF8"/>
                </a:solidFill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UVICORN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i="1">
                <a:solidFill>
                  <a:srgbClr val="94A3B8"/>
                </a:solidFill>
              </a:defRPr>
            </a:pPr>
            <a:r>
              <a:rPr kumimoji="0" sz="2000" b="0" i="1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(Роль: Работник / Worker)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1F5F9"/>
                </a:solidFill>
              </a:defRPr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Это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быстрый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ASGI-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сервер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Он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умеет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исполнять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асинхронный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Python-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код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FastAPI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обрабатывать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веб-сокеты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держать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соединения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286000"/>
            <a:ext cx="676656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97316"/>
                </a:solidFill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GUNICORN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i="1">
                <a:solidFill>
                  <a:srgbClr val="94A3B8"/>
                </a:solidFill>
              </a:defRPr>
            </a:pPr>
            <a:r>
              <a:rPr kumimoji="0" sz="2000" b="0" i="1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(Роль: Менеджер / Supervisor)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74720"/>
            <a:ext cx="6217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2000">
                <a:solidFill>
                  <a:srgbClr val="F1F5F9"/>
                </a:solidFill>
              </a:defRPr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Это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проверенный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WSGI-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сервер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Он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не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умеет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srgbClr val="F1F5F9"/>
                </a:solidFill>
              </a:rPr>
              <a:t>исполнять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асинхронность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сам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отлично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умеет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управлять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процессами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перезапускать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их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3898880" cy="2103120"/>
          </a:xfrm>
          <a:prstGeom prst="roundRect">
            <a:avLst/>
          </a:prstGeom>
          <a:solidFill>
            <a:srgbClr val="19233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5477" y="5943600"/>
            <a:ext cx="14168622" cy="151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97316"/>
                </a:solidFill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ЗАЧЕМ ИХ ОБЪЕДИНЯТЬ?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1F5F9"/>
                </a:solidFill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Масштабируемость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Python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имеет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GIL.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Gunicorn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запускает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много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копий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Uvicorn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чтобы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задействовать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все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ядра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процессора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1F5F9"/>
                </a:solidFill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Надежность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Если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процесс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Uvicorn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«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упадет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»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из-за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ошибки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Gunicorn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мгновенно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перезапустит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его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и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сайт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продолжит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работать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81F358D-3CBC-EEF3-92B1-83F07DE7147E}"/>
              </a:ext>
            </a:extLst>
          </p:cNvPr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CAA2FB1-3710-3807-EE45-AB0DA96096A9}"/>
              </a:ext>
            </a:extLst>
          </p:cNvPr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1595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0EA5E9"/>
                </a:solidFill>
                <a:latin typeface="Arial Black"/>
              </a:defRPr>
            </a:pPr>
            <a:r>
              <a:rPr lang="ru-RU" sz="3600" dirty="0">
                <a:solidFill>
                  <a:srgbClr val="0EA5E9"/>
                </a:solidFill>
                <a:latin typeface="Arial Black"/>
              </a:rPr>
              <a:t>10. </a:t>
            </a:r>
            <a:r>
              <a:rPr sz="3600" dirty="0">
                <a:solidFill>
                  <a:srgbClr val="0EA5E9"/>
                </a:solidFill>
                <a:latin typeface="Arial Black"/>
              </a:rPr>
              <a:t>ВАЛИДАЦИЯ ДАННЫХ (PYDANTIC)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94A3B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Как мы защищаем систему от некорректного ввода?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6400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38BDF8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ПОЧЕМУ PYDANTIC?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1F5F9"/>
                </a:solidFill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Нативная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интеграция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94A3B8"/>
                </a:solidFill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FastAPI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использует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Pydantic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«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из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коробки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»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для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описания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схем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запросов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ответов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1F5F9"/>
                </a:solidFill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Parsing: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94A3B8"/>
                </a:solidFill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Автоматически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преобразует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типы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например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строку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"5" в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число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5),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если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это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безопасно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1F5F9"/>
                </a:solidFill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Производительность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94A3B8"/>
                </a:solidFill>
              </a:defRPr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Ядро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V2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переписано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Rust,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что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дает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минимальный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оверхед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286000"/>
            <a:ext cx="6858000" cy="5029200"/>
          </a:xfrm>
          <a:prstGeom prst="roundRect">
            <a:avLst/>
          </a:prstGeom>
          <a:solidFill>
            <a:srgbClr val="1E293B"/>
          </a:solidFill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10B981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КАК ЭТО РАБОТАЕТ?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200400"/>
            <a:ext cx="1828800" cy="914400"/>
          </a:xfrm>
          <a:prstGeom prst="rect">
            <a:avLst/>
          </a:prstGeom>
          <a:solidFill>
            <a:srgbClr val="32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(Грязный)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9760" y="3474720"/>
            <a:ext cx="731520" cy="36576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Hexagon 11"/>
          <p:cNvSpPr/>
          <p:nvPr/>
        </p:nvSpPr>
        <p:spPr>
          <a:xfrm>
            <a:off x="10332720" y="3017520"/>
            <a:ext cx="1371600" cy="1280160"/>
          </a:xfrm>
          <a:prstGeom prst="hexagon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PYDANTIC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SCHEMA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795760" y="3474720"/>
            <a:ext cx="731520" cy="365760"/>
          </a:xfrm>
          <a:prstGeom prst="rightArrow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618720" y="3200400"/>
            <a:ext cx="1371600" cy="914400"/>
          </a:xfrm>
          <a:prstGeom prst="rect">
            <a:avLst/>
          </a:prstGeom>
          <a:solidFill>
            <a:srgbClr val="1432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Python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57200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1F5F9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Отсечение лишних полей: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>
                <a:solidFill>
                  <a:srgbClr val="94A3B8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Если передать поле 'is_admin=True', которого нет в схеме, оно будет удалено. Это защита от Mass Assignment.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1F5F9"/>
                </a:solidFill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Проверка типов: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94A3B8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Если в поле 'age' передать строку 'test', система вернет ошибку 422 Unprocessable Entity.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2E12B3C-7E54-E597-3984-00FAC1C3FC38}"/>
              </a:ext>
            </a:extLst>
          </p:cNvPr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F1C445-05F0-BD67-48A6-2B37F741DABB}"/>
              </a:ext>
            </a:extLst>
          </p:cNvPr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5296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EA5E9"/>
                </a:solidFill>
                <a:latin typeface="Arial Black"/>
              </a:defRPr>
            </a:pPr>
            <a:r>
              <a:rPr lang="ru-RU" dirty="0"/>
              <a:t>11</a:t>
            </a:r>
            <a:r>
              <a:rPr dirty="0"/>
              <a:t>. ЗАКЛЮЧЕНИЕ И ПЛАНЫ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58368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Результаты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0350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1. </a:t>
            </a:r>
            <a:r>
              <a:rPr dirty="0" err="1"/>
              <a:t>Разработана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функциональная</a:t>
            </a:r>
            <a:r>
              <a:rPr dirty="0"/>
              <a:t> LMS-</a:t>
            </a:r>
            <a:r>
              <a:rPr dirty="0" err="1"/>
              <a:t>система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2. </a:t>
            </a: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уникальный</a:t>
            </a:r>
            <a:r>
              <a:rPr dirty="0"/>
              <a:t> </a:t>
            </a:r>
            <a:r>
              <a:rPr dirty="0" err="1"/>
              <a:t>механизм</a:t>
            </a:r>
            <a:r>
              <a:rPr dirty="0"/>
              <a:t> </a:t>
            </a:r>
            <a:r>
              <a:rPr dirty="0" err="1"/>
              <a:t>безопасной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Python-</a:t>
            </a:r>
            <a:r>
              <a:rPr dirty="0" err="1"/>
              <a:t>кода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3. </a:t>
            </a:r>
            <a:r>
              <a:rPr dirty="0" err="1"/>
              <a:t>Достигнута</a:t>
            </a:r>
            <a:r>
              <a:rPr dirty="0"/>
              <a:t> </a:t>
            </a:r>
            <a:r>
              <a:rPr dirty="0" err="1"/>
              <a:t>максимальная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6583680" cy="548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399" y="20116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Roadmap (План развития)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560320"/>
            <a:ext cx="6035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Q1: </a:t>
            </a:r>
            <a:r>
              <a:rPr dirty="0" err="1"/>
              <a:t>Миграция</a:t>
            </a:r>
            <a:r>
              <a:rPr dirty="0"/>
              <a:t> БД</a:t>
            </a:r>
          </a:p>
          <a:p>
            <a:pPr lvl="1">
              <a:spcAft>
                <a:spcPts val="1200"/>
              </a:spcAft>
              <a:defRPr sz="2200">
                <a:solidFill>
                  <a:srgbClr val="94A3B8"/>
                </a:solidFill>
              </a:defRPr>
            </a:pPr>
            <a:r>
              <a:rPr dirty="0"/>
              <a:t>- </a:t>
            </a:r>
            <a:r>
              <a:rPr dirty="0" err="1"/>
              <a:t>Переход</a:t>
            </a:r>
            <a:r>
              <a:rPr dirty="0"/>
              <a:t> с CSV </a:t>
            </a:r>
            <a:r>
              <a:rPr dirty="0" err="1"/>
              <a:t>на</a:t>
            </a:r>
            <a:r>
              <a:rPr dirty="0"/>
              <a:t> PostgreSQL + </a:t>
            </a:r>
            <a:r>
              <a:rPr dirty="0" err="1"/>
              <a:t>SQLAlchemy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400">
                <a:solidFill>
                  <a:srgbClr val="F1F5F9"/>
                </a:solidFill>
              </a:defRPr>
            </a:pPr>
            <a:r>
              <a:rPr dirty="0"/>
              <a:t>Q2: Docker</a:t>
            </a:r>
          </a:p>
          <a:p>
            <a:pPr lvl="1">
              <a:spcAft>
                <a:spcPts val="1200"/>
              </a:spcAft>
              <a:defRPr sz="2200">
                <a:solidFill>
                  <a:srgbClr val="94A3B8"/>
                </a:solidFill>
              </a:defRPr>
            </a:pPr>
            <a:r>
              <a:rPr dirty="0"/>
              <a:t>- </a:t>
            </a: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изоляция</a:t>
            </a:r>
            <a:r>
              <a:rPr dirty="0"/>
              <a:t> </a:t>
            </a:r>
            <a:r>
              <a:rPr dirty="0" err="1"/>
              <a:t>песочницы</a:t>
            </a:r>
            <a:r>
              <a:rPr dirty="0"/>
              <a:t> в </a:t>
            </a:r>
            <a:r>
              <a:rPr dirty="0" err="1"/>
              <a:t>контейнерах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78369"/>
            <a:ext cx="14630400" cy="228600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EA5E9"/>
                </a:solidFill>
                <a:latin typeface="Arial Black"/>
              </a:defRPr>
            </a:pPr>
            <a:r>
              <a:rPr dirty="0"/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F5F9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1011</Words>
  <Application>Microsoft Office PowerPoint</Application>
  <PresentationFormat>Произвольный</PresentationFormat>
  <Paragraphs>155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Arseniy 13</dc:creator>
  <cp:keywords/>
  <dc:description>generated using python-pptx</dc:description>
  <cp:lastModifiedBy>Arseniy 13</cp:lastModifiedBy>
  <cp:revision>8</cp:revision>
  <dcterms:created xsi:type="dcterms:W3CDTF">2013-01-27T09:14:16Z</dcterms:created>
  <dcterms:modified xsi:type="dcterms:W3CDTF">2026-01-14T12:30:31Z</dcterms:modified>
  <cp:category/>
</cp:coreProperties>
</file>